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3" r:id="rId2"/>
    <p:sldId id="268" r:id="rId3"/>
    <p:sldId id="270" r:id="rId4"/>
    <p:sldId id="26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6B571-AF32-070E-E830-E95F88E41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5FDE71-5E31-71DC-6798-DE29C0AA3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09ABE8-EB8A-B1B8-9341-D3E18F6C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4553EB-D692-0FEB-4F4F-2B60CD5D0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88B619-6BE3-FABB-A3CF-A22A4B35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365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AccentBarLayout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6DFD94-D725-8CC8-E036-7D7E7511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906572-B25E-B67F-B443-658A8C8B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047089-45FF-BCBE-81FA-54B819331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3DAF38-E050-CDBA-DA2D-7565A555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C2C249-B7AA-F864-EF15-161FAB16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436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E57CA-09B8-C586-A5D3-E5E06C4E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4F60DD-44A5-63C2-04B4-8B3F82B4A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009754-3BC2-3726-4218-00D905E3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48CA2C-F721-D815-8754-1B38FC23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33D889-AFF3-9549-BA02-14A37458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17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FA6739-28ED-ADBF-FECE-3FEA5AAA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4D06BC-A049-D13D-2F34-D5953F95C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0FDD30B-11E5-BB5A-1BDB-846112540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1F25F3-F9D7-AD5C-E1A9-2DDF32B7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510246-28E2-8F3A-4DE0-63F08524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431610-F727-6E4D-1336-3CF55D8A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421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D4FC9F-AC70-9DC6-6827-F95F49AA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5BD726-9A4D-BABD-7BA2-CFCC50B94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73CAA8-B2A7-FA73-8A40-6164641C1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E9BF94-19C5-FCC4-548A-D99E3625F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FE028A0-D34E-FA87-38B1-C988DFE0E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E2DE7F-5A8C-489B-7716-CC2982B09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F447D53-2B0A-B014-E76D-3CF6BD06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307225-2B1A-8553-CE60-5AA9E04B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512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23113B-FFE1-4D92-1E53-478D4E85D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283838-689E-03D8-5862-A80EB953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A47674-E57B-B90D-C43B-6E2E1E4A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B00592A-93D3-5C75-2597-862837F0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73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84DEC01-5558-340D-14E4-AE4F3FFD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D55EC11-C474-0919-7349-B07A7D88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BCD236-F724-97F0-595B-41ADD09A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7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80A974-2071-BD07-D1CA-57999043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D1A07D-9C9B-401C-B770-C10FD076D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5ABB81-C357-76C4-DD5C-8639B70A2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696D96-AB55-9C8C-2E48-CC7C7C65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EB2FE8-DF36-8416-0152-786EC275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4AC1DE-6644-A615-68F6-AA67A623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928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446C08-147B-8451-5A8C-19A05463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07E36E5-4CAF-7E6C-6FEB-635A957F8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B5A076-066F-D2C7-F73E-6BBFC6937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C5A26E-4BA9-602A-EB30-7A4C4408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315443-A4DB-4C64-8B55-21741C64E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2C9A4D-6ACF-7E79-D963-838FA81D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64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60342A-6D51-B52B-5405-F329FC37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956B44-342D-A3CD-37F1-39C7D2899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D3F809-BFF9-A379-81CD-7D937879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E3839F-085E-66B8-7302-160FDD5BF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1BBACE-FDF1-E28C-F2C8-BA6F15B6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331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FCD6612-6680-7BB3-3290-4FE541BAE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4BF075C-BD29-2D69-E567-D79AE86B1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4BDC18-520C-FF83-637C-6646DF44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5B3528-477E-B796-D3D1-9BBFBECD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FF202C-D030-F65E-E229-F5997E6E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512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48E740-CB77-4DF6-9358-50142DEA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217A0D-319E-7DD1-8CC0-05761FCF8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211FF-8370-81BF-7670-7FAF6B027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D0E69-9BBC-4139-95ED-1758542D161E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AD4F40-25EF-79F0-7513-D4C40AB0C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B667D1-889E-FB94-F483-2AE6BC6BE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1A6D2-8CB6-4C72-9009-22F3580C0990}" type="slidenum">
              <a:rPr lang="fr-FR" smtClean="0"/>
              <a:t>‹N°›</a:t>
            </a:fld>
            <a:endParaRPr lang="fr-FR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FooterHairline"/>
          <p:cNvSpPr/>
          <p:nvPr/>
        </p:nvSpPr>
        <p:spPr>
          <a:xfrm>
            <a:off x="838200" y="6416040"/>
            <a:ext cx="10515600" cy="12700"/>
          </a:xfrm>
          <a:prstGeom prst="rect">
            <a:avLst/>
          </a:prstGeom>
          <a:solidFill>
            <a:srgbClr val="C9D6C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FooterLabel"/>
          <p:cNvSpPr/>
          <p:nvPr/>
        </p:nvSpPr>
        <p:spPr>
          <a:xfrm>
            <a:off x="838200" y="6470650"/>
            <a:ext cx="6858000" cy="28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Corporate emissions data review — Part 3</a:t>
            </a:r>
          </a:p>
        </p:txBody>
      </p:sp>
    </p:spTree>
    <p:extLst>
      <p:ext uri="{BB962C8B-B14F-4D97-AF65-F5344CB8AC3E}">
        <p14:creationId xmlns:p14="http://schemas.microsoft.com/office/powerpoint/2010/main" val="318373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144F44-D951-B8CE-2987-AA795AD39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Analysis &amp; Recommendations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B1773CE-5283-5792-83EB-FD93AFB4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accent6"/>
                </a:solidFill>
              </a:rPr>
              <a:t>Corporate carbon footprint data review:</a:t>
            </a:r>
          </a:p>
          <a:p>
            <a:pPr marL="342900" indent="-342900" algn="ctr">
              <a:buFontTx/>
              <a:buChar char="-"/>
            </a:pPr>
            <a:r>
              <a:rPr lang="en-US" sz="2800" dirty="0">
                <a:solidFill>
                  <a:schemeClr val="accent6"/>
                </a:solidFill>
              </a:rPr>
              <a:t>key insights</a:t>
            </a:r>
          </a:p>
          <a:p>
            <a:pPr marL="342900" indent="-342900" algn="ctr">
              <a:buFontTx/>
              <a:buChar char="-"/>
            </a:pPr>
            <a:r>
              <a:rPr lang="en-US" sz="2800" dirty="0">
                <a:solidFill>
                  <a:schemeClr val="accent6"/>
                </a:solidFill>
              </a:rPr>
              <a:t>Limitations</a:t>
            </a:r>
          </a:p>
          <a:p>
            <a:pPr marL="342900" indent="-342900" algn="ctr">
              <a:buFontTx/>
              <a:buChar char="-"/>
            </a:pPr>
            <a:r>
              <a:rPr lang="en-US" sz="2800" dirty="0">
                <a:solidFill>
                  <a:schemeClr val="accent6"/>
                </a:solidFill>
              </a:rPr>
              <a:t>next steps</a:t>
            </a:r>
          </a:p>
        </p:txBody>
      </p:sp>
      <p:pic>
        <p:nvPicPr>
          <p:cNvPr id="4" name="Graphic 4" descr="Leaf icon representing sustain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07600" y="2142331"/>
            <a:ext cx="609600" cy="609600"/>
          </a:xfrm>
          <a:prstGeom prst="rect">
            <a:avLst/>
          </a:prstGeom>
        </p:spPr>
      </p:pic>
      <p:sp>
        <p:nvSpPr>
          <p:cNvPr id="5" name="TitleAccentRule">
            <a:extLst>
              <a:ext uri="{FF2B5EF4-FFF2-40B4-BE49-F238E27FC236}">
                <a16:creationId xmlns:a16="http://schemas.microsoft.com/office/drawing/2014/main" id="{557DD48B-315A-48F8-9F71-D4D26EA755F5}"/>
              </a:ext>
            </a:extLst>
          </p:cNvPr>
          <p:cNvSpPr/>
          <p:nvPr/>
        </p:nvSpPr>
        <p:spPr>
          <a:xfrm>
            <a:off x="5461000" y="3276600"/>
            <a:ext cx="1270000" cy="508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744D047E-B48E-43A8-B577-A4408C524354}"/>
              </a:ext>
            </a:extLst>
          </p:cNvPr>
          <p:cNvSpPr txBox="1"/>
          <p:nvPr/>
        </p:nvSpPr>
        <p:spPr>
          <a:xfrm>
            <a:off x="10083800" y="6438900"/>
            <a:ext cx="1270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595959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48673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BarSlide">
            <a:extLst>
              <a:ext uri="{FF2B5EF4-FFF2-40B4-BE49-F238E27FC236}">
                <a16:creationId xmlns:a16="http://schemas.microsoft.com/office/drawing/2014/main" id="{B3EBE771-57D2-47C2-977F-A1B4D8AD94F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DF25453-A7CD-F109-E2E7-F12F4008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Key Insights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63A2AE-022A-F748-18C0-1D650F70A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149" y="1562432"/>
            <a:ext cx="6189616" cy="4351338"/>
          </a:xfrm>
        </p:spPr>
        <p:txBody>
          <a:bodyPr anchor="ctr" anchorCtr="0">
            <a:normAutofit fontScale="92500" lnSpcReduction="20000"/>
          </a:bodyPr>
          <a:lstStyle/>
          <a:p>
            <a:pPr marL="285750" indent="-285750">
              <a:spcBef>
                <a:spcPts val="8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Company A is the only company at risk on its Scope 1+2 target</a:t>
            </a:r>
          </a:p>
          <a:p>
            <a:pPr marL="285750" lvl="1" indent="0">
              <a:buNone/>
            </a:pPr>
            <a:r>
              <a:rPr lang="en-US" dirty="0">
                <a:solidFill>
                  <a:schemeClr val="tx1"/>
                </a:solidFill>
              </a:rPr>
              <a:t>Gap of </a:t>
            </a:r>
            <a:r>
              <a:rPr lang="en-US" u="sng" dirty="0">
                <a:solidFill>
                  <a:schemeClr val="tx1"/>
                </a:solidFill>
              </a:rPr>
              <a:t>+8,536 tCO2e in 2024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chemeClr val="tx1"/>
                </a:solidFill>
              </a:rPr>
              <a:t>persistent</a:t>
            </a:r>
            <a:r>
              <a:rPr lang="en-US" dirty="0">
                <a:solidFill>
                  <a:schemeClr val="tx1"/>
                </a:solidFill>
              </a:rPr>
              <a:t> since 2021 and </a:t>
            </a:r>
            <a:r>
              <a:rPr lang="en-US" b="1" dirty="0">
                <a:solidFill>
                  <a:schemeClr val="tx1"/>
                </a:solidFill>
              </a:rPr>
              <a:t>widening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285750" lvl="1" indent="0">
              <a:buNone/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u="sng" dirty="0">
                <a:solidFill>
                  <a:schemeClr val="tx1"/>
                </a:solidFill>
              </a:rPr>
              <a:t>structural issue</a:t>
            </a:r>
            <a:r>
              <a:rPr lang="en-US" dirty="0">
                <a:solidFill>
                  <a:schemeClr val="tx1"/>
                </a:solidFill>
              </a:rPr>
              <a:t>, not a one-off, despite an SBTi-validated target.</a:t>
            </a:r>
          </a:p>
          <a:p>
            <a:pPr marL="285750" indent="-285750">
              <a:spcBef>
                <a:spcPts val="8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Business travel is the fastest-growing emission driver</a:t>
            </a:r>
          </a:p>
          <a:p>
            <a:pPr marL="285750" lvl="1" indent="0">
              <a:buNone/>
            </a:pPr>
            <a:r>
              <a:rPr lang="en-US" b="1" dirty="0">
                <a:solidFill>
                  <a:schemeClr val="tx1"/>
                </a:solidFill>
              </a:rPr>
              <a:t>+73.2% (2019–2024)</a:t>
            </a:r>
            <a:r>
              <a:rPr lang="en-US" dirty="0">
                <a:solidFill>
                  <a:schemeClr val="tx1"/>
                </a:solidFill>
              </a:rPr>
              <a:t>, fully offsetting the best reduction in the data (upstream transport, -37.1%).</a:t>
            </a:r>
          </a:p>
          <a:p>
            <a:pPr marL="285750" indent="-285750">
              <a:spcBef>
                <a:spcPts val="8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Scope 3 is excluded from every target, yet represents ~74% of emissions</a:t>
            </a:r>
          </a:p>
          <a:p>
            <a:pPr marL="285750" lvl="1" indent="0">
              <a:buNone/>
            </a:pPr>
            <a:r>
              <a:rPr lang="en-US" dirty="0">
                <a:solidFill>
                  <a:schemeClr val="tx1"/>
                </a:solidFill>
              </a:rPr>
              <a:t>Companies track on Scope 1+2 </a:t>
            </a:r>
            <a:r>
              <a:rPr lang="en-US" b="1" dirty="0">
                <a:solidFill>
                  <a:schemeClr val="tx1"/>
                </a:solidFill>
              </a:rPr>
              <a:t>while total footprints grow</a:t>
            </a:r>
            <a:r>
              <a:rPr lang="en-US" dirty="0">
                <a:solidFill>
                  <a:schemeClr val="tx1"/>
                </a:solidFill>
              </a:rPr>
              <a:t> (Company B +12.9%, Company A +15.8%)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tx1"/>
                </a:solidFill>
              </a:rPr>
              <a:t> a credibility </a:t>
            </a:r>
            <a:r>
              <a:rPr lang="en-US" u="sng" dirty="0">
                <a:solidFill>
                  <a:schemeClr val="tx1"/>
                </a:solidFill>
              </a:rPr>
              <a:t>blind spot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D89EA3B7-DC5C-4D8A-951D-25D1CFCCD44D}"/>
              </a:ext>
            </a:extLst>
          </p:cNvPr>
          <p:cNvSpPr txBox="1"/>
          <p:nvPr/>
        </p:nvSpPr>
        <p:spPr>
          <a:xfrm>
            <a:off x="10083800" y="6438900"/>
            <a:ext cx="1270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595959"/>
                </a:solidFill>
              </a:rPr>
              <a:t>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244DAA2-CEDA-B57F-4E3C-72C5EC2AF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765" y="473883"/>
            <a:ext cx="5258753" cy="26267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79308EC-A534-E4E1-71F2-7E339274B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86"/>
          <a:stretch>
            <a:fillRect/>
          </a:stretch>
        </p:blipFill>
        <p:spPr>
          <a:xfrm>
            <a:off x="7774575" y="3194243"/>
            <a:ext cx="3579225" cy="315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23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BarSlide">
            <a:extLst>
              <a:ext uri="{FF2B5EF4-FFF2-40B4-BE49-F238E27FC236}">
                <a16:creationId xmlns:a16="http://schemas.microsoft.com/office/drawing/2014/main" id="{32FF0DCF-4C5C-4980-A89B-B721F69505E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477DCC-160D-EB46-62A4-36A2309A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Limitations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1F2FB0-D4DD-18C7-1851-76B8256A1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anchor="ctr" anchorCtr="0">
            <a:noAutofit/>
          </a:bodyPr>
          <a:lstStyle/>
          <a:p>
            <a:pPr marL="257175" indent="-257175">
              <a:spcBef>
                <a:spcPts val="6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Data quality issues affect analytical reliability</a:t>
            </a:r>
          </a:p>
          <a:p>
            <a:pPr marL="257175" lvl="1" indent="0">
              <a:buNone/>
            </a:pPr>
            <a:r>
              <a:rPr lang="en-US" dirty="0">
                <a:solidFill>
                  <a:schemeClr val="tx1"/>
                </a:solidFill>
              </a:rPr>
              <a:t>8 duplicates, 8 nulls, 1 invalid year (2099), 1 invalid scope (4), 3 negatives, 2 naming inconsistencies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all handled in staging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57175" indent="-257175">
              <a:spcBef>
                <a:spcPts val="6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Scope 3 reporting is incomplete and inconsistent</a:t>
            </a:r>
          </a:p>
          <a:p>
            <a:pPr marL="257175" lvl="1" indent="0">
              <a:buNone/>
            </a:pPr>
            <a:r>
              <a:rPr lang="en-US" dirty="0">
                <a:solidFill>
                  <a:schemeClr val="tx1"/>
                </a:solidFill>
              </a:rPr>
              <a:t>Companies do not report all categories every year (e.g. Company A starts Purchased goods &amp; services in 2021)</a:t>
            </a:r>
          </a:p>
          <a:p>
            <a:pPr marL="257175" lvl="1" indent="0">
              <a:buNone/>
            </a:pPr>
            <a:r>
              <a:rPr lang="en-US" dirty="0">
                <a:solidFill>
                  <a:schemeClr val="tx1"/>
                </a:solidFill>
              </a:rPr>
              <a:t>Year over </a:t>
            </a:r>
            <a:r>
              <a:rPr lang="en-US" dirty="0"/>
              <a:t>y</a:t>
            </a:r>
            <a:r>
              <a:rPr lang="en-US" dirty="0">
                <a:solidFill>
                  <a:schemeClr val="tx1"/>
                </a:solidFill>
              </a:rPr>
              <a:t>ear </a:t>
            </a:r>
            <a:r>
              <a:rPr lang="en-US" dirty="0"/>
              <a:t>c</a:t>
            </a:r>
            <a:r>
              <a:rPr lang="en-US" dirty="0">
                <a:solidFill>
                  <a:schemeClr val="tx1"/>
                </a:solidFill>
              </a:rPr>
              <a:t>omparisons can be unreliable.</a:t>
            </a:r>
          </a:p>
          <a:p>
            <a:pPr marL="257175" indent="-257175">
              <a:spcBef>
                <a:spcPts val="6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Target progress is measured on Scope 1+2 only</a:t>
            </a:r>
          </a:p>
          <a:p>
            <a:pPr marL="257175" lvl="1" indent="0">
              <a:buNone/>
            </a:pPr>
            <a:r>
              <a:rPr lang="en-US" dirty="0"/>
              <a:t>A</a:t>
            </a:r>
            <a:r>
              <a:rPr lang="en-US" dirty="0">
                <a:solidFill>
                  <a:schemeClr val="tx1"/>
                </a:solidFill>
              </a:rPr>
              <a:t> company can be on track yet growing its total footprint.</a:t>
            </a:r>
          </a:p>
          <a:p>
            <a:pPr marL="257175" indent="-257175">
              <a:spcBef>
                <a:spcPts val="6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Negative emissions could not be validated</a:t>
            </a:r>
          </a:p>
          <a:p>
            <a:pPr marL="257175" lvl="1" indent="0">
              <a:buNone/>
            </a:pPr>
            <a:r>
              <a:rPr lang="en-US" u="sng" dirty="0">
                <a:solidFill>
                  <a:schemeClr val="tx1"/>
                </a:solidFill>
              </a:rPr>
              <a:t>It can materially shift trends</a:t>
            </a:r>
            <a:r>
              <a:rPr lang="en-US" dirty="0">
                <a:solidFill>
                  <a:schemeClr val="tx1"/>
                </a:solidFill>
              </a:rPr>
              <a:t>: Company G reduction -51.6% → -28.9% after exclusion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59C96420-5461-4DE7-85B1-3B636C1D4201}"/>
              </a:ext>
            </a:extLst>
          </p:cNvPr>
          <p:cNvSpPr txBox="1"/>
          <p:nvPr/>
        </p:nvSpPr>
        <p:spPr>
          <a:xfrm>
            <a:off x="10083800" y="6438900"/>
            <a:ext cx="1270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59595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0802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BarSlide">
            <a:extLst>
              <a:ext uri="{FF2B5EF4-FFF2-40B4-BE49-F238E27FC236}">
                <a16:creationId xmlns:a16="http://schemas.microsoft.com/office/drawing/2014/main" id="{32C759C3-D687-4CD2-9AB9-B9C66A06E95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2C033E-1D2E-2E10-17E5-2328B486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Next Steps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7DB189-39B0-A75F-6603-012799236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anchor="ctr" anchorCtr="0">
            <a:noAutofit/>
          </a:bodyPr>
          <a:lstStyle/>
          <a:p>
            <a:pPr marL="285750" indent="-285750">
              <a:spcBef>
                <a:spcPts val="8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Validate and integrate Scope 3 into target commitments</a:t>
            </a:r>
          </a:p>
          <a:p>
            <a:pPr marL="285750" lvl="1" indent="0">
              <a:buNone/>
            </a:pPr>
            <a:r>
              <a:rPr lang="en-US" b="1" dirty="0">
                <a:solidFill>
                  <a:schemeClr val="tx1"/>
                </a:solidFill>
              </a:rPr>
              <a:t>Quantify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the gap </a:t>
            </a:r>
            <a:r>
              <a:rPr lang="en-US" dirty="0">
                <a:solidFill>
                  <a:schemeClr val="tx1"/>
                </a:solidFill>
              </a:rPr>
              <a:t>between </a:t>
            </a:r>
            <a:r>
              <a:rPr lang="en-US" u="sng" dirty="0">
                <a:solidFill>
                  <a:schemeClr val="tx1"/>
                </a:solidFill>
              </a:rPr>
              <a:t>Scope 1+2</a:t>
            </a:r>
            <a:r>
              <a:rPr lang="en-US" dirty="0">
                <a:solidFill>
                  <a:schemeClr val="tx1"/>
                </a:solidFill>
              </a:rPr>
              <a:t> pledges and </a:t>
            </a:r>
            <a:r>
              <a:rPr lang="en-US" u="sng" dirty="0">
                <a:solidFill>
                  <a:schemeClr val="tx1"/>
                </a:solidFill>
              </a:rPr>
              <a:t>full-footprint</a:t>
            </a:r>
            <a:r>
              <a:rPr lang="en-US" dirty="0">
                <a:solidFill>
                  <a:schemeClr val="tx1"/>
                </a:solidFill>
              </a:rPr>
              <a:t> targets</a:t>
            </a:r>
          </a:p>
          <a:p>
            <a:pPr marL="285750" indent="-285750">
              <a:spcBef>
                <a:spcPts val="8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Assess initiative delivery vs planned reductions</a:t>
            </a:r>
          </a:p>
          <a:p>
            <a:pPr marL="285750" lvl="1" indent="0">
              <a:buNone/>
            </a:pPr>
            <a:r>
              <a:rPr lang="en-US" b="1" dirty="0">
                <a:solidFill>
                  <a:schemeClr val="tx1"/>
                </a:solidFill>
              </a:rPr>
              <a:t>Cross-reference completed initiatives' estimated_reduction against </a:t>
            </a:r>
            <a:r>
              <a:rPr lang="en-US" dirty="0">
                <a:solidFill>
                  <a:schemeClr val="tx1"/>
                </a:solidFill>
              </a:rPr>
              <a:t>observed emission changes. </a:t>
            </a:r>
            <a:r>
              <a:rPr lang="en-US" dirty="0"/>
              <a:t>E</a:t>
            </a:r>
            <a:r>
              <a:rPr lang="en-US" dirty="0">
                <a:solidFill>
                  <a:schemeClr val="tx1"/>
                </a:solidFill>
              </a:rPr>
              <a:t>specially for </a:t>
            </a:r>
            <a:r>
              <a:rPr lang="en-US" u="sng" dirty="0">
                <a:solidFill>
                  <a:schemeClr val="tx1"/>
                </a:solidFill>
              </a:rPr>
              <a:t>Company A</a:t>
            </a:r>
            <a:r>
              <a:rPr lang="en-US" dirty="0">
                <a:solidFill>
                  <a:schemeClr val="tx1"/>
                </a:solidFill>
              </a:rPr>
              <a:t>, where planned effort may not close the gap.</a:t>
            </a:r>
          </a:p>
          <a:p>
            <a:pPr marL="285750" indent="-285750">
              <a:spcBef>
                <a:spcPts val="8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Investigate business travel growth drivers</a:t>
            </a:r>
          </a:p>
          <a:p>
            <a:pPr marL="285750" lvl="1" indent="0">
              <a:buNone/>
            </a:pPr>
            <a:r>
              <a:rPr lang="en-US" dirty="0">
                <a:solidFill>
                  <a:schemeClr val="tx1"/>
                </a:solidFill>
              </a:rPr>
              <a:t>Company-level breakdown: </a:t>
            </a:r>
            <a:r>
              <a:rPr lang="en-US" u="sng" dirty="0">
                <a:solidFill>
                  <a:schemeClr val="tx1"/>
                </a:solidFill>
              </a:rPr>
              <a:t>structural growth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u="sng" dirty="0">
                <a:solidFill>
                  <a:schemeClr val="tx1"/>
                </a:solidFill>
              </a:rPr>
              <a:t>post-COVID rebound</a:t>
            </a:r>
            <a:r>
              <a:rPr lang="en-US" dirty="0">
                <a:solidFill>
                  <a:schemeClr val="tx1"/>
                </a:solidFill>
              </a:rPr>
              <a:t> ?</a:t>
            </a:r>
            <a:r>
              <a:rPr lang="en-US" dirty="0"/>
              <a:t> </a:t>
            </a:r>
          </a:p>
          <a:p>
            <a:pPr marL="285750" lvl="1" indent="0">
              <a:buNone/>
            </a:pPr>
            <a:r>
              <a:rPr lang="en-US" dirty="0"/>
              <a:t>T</a:t>
            </a:r>
            <a:r>
              <a:rPr lang="en-US" dirty="0">
                <a:solidFill>
                  <a:schemeClr val="tx1"/>
                </a:solidFill>
              </a:rPr>
              <a:t>ravel policy and remote-work practices.</a:t>
            </a:r>
          </a:p>
          <a:p>
            <a:pPr marL="285750" indent="-285750">
              <a:spcBef>
                <a:spcPts val="800"/>
              </a:spcBef>
              <a:buFont typeface="Arial"/>
              <a:buChar char="▪"/>
            </a:pPr>
            <a:r>
              <a:rPr lang="en-US" sz="2400" b="1" dirty="0">
                <a:solidFill>
                  <a:schemeClr val="accent6"/>
                </a:solidFill>
              </a:rPr>
              <a:t>Resolve data quality issues with source teams</a:t>
            </a:r>
          </a:p>
          <a:p>
            <a:pPr marL="285750" lvl="1" indent="0">
              <a:buNone/>
            </a:pPr>
            <a:r>
              <a:rPr lang="en-US" dirty="0">
                <a:solidFill>
                  <a:schemeClr val="tx1"/>
                </a:solidFill>
              </a:rPr>
              <a:t>Reconcile negatives, naming, and incomplete Scope 3 with </a:t>
            </a:r>
            <a:r>
              <a:rPr lang="en-US" b="1" dirty="0">
                <a:solidFill>
                  <a:schemeClr val="tx1"/>
                </a:solidFill>
              </a:rPr>
              <a:t>reporting teams</a:t>
            </a:r>
            <a:r>
              <a:rPr lang="en-US" dirty="0">
                <a:solidFill>
                  <a:schemeClr val="tx1"/>
                </a:solidFill>
              </a:rPr>
              <a:t>; </a:t>
            </a:r>
            <a:r>
              <a:rPr lang="en-US" u="sng" dirty="0" err="1"/>
              <a:t>S</a:t>
            </a:r>
            <a:r>
              <a:rPr lang="en-US" u="sng" dirty="0" err="1">
                <a:solidFill>
                  <a:schemeClr val="tx1"/>
                </a:solidFill>
              </a:rPr>
              <a:t>tandardise</a:t>
            </a:r>
            <a:r>
              <a:rPr lang="en-US" u="sng" dirty="0">
                <a:solidFill>
                  <a:schemeClr val="tx1"/>
                </a:solidFill>
              </a:rPr>
              <a:t> guidelines</a:t>
            </a:r>
            <a:r>
              <a:rPr lang="en-US" dirty="0">
                <a:solidFill>
                  <a:schemeClr val="tx1"/>
                </a:solidFill>
              </a:rPr>
              <a:t> to improve reliability for future cycles.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F7D48980-3481-40DB-AD0C-DFF60D0A46E8}"/>
              </a:ext>
            </a:extLst>
          </p:cNvPr>
          <p:cNvSpPr txBox="1"/>
          <p:nvPr/>
        </p:nvSpPr>
        <p:spPr>
          <a:xfrm>
            <a:off x="10083800" y="6438900"/>
            <a:ext cx="1270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59595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218576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84134178619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264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3605BB-875D-4A15-8D84-9CD64D26E9FA}">
  <we:reference id="wa200010001" version="1.0.0.1" store="fr-FR" storeType="OMEX"/>
  <we:alternateReferences>
    <we:reference id="wa200010001" version="1.0.0.1" store="wa200010001" storeType="OMEX"/>
  </we:alternateReferences>
  <we:properties>
    <we:property name="claude.fileId" value="&quot;beeac64e-7bbd-4a08-8ceb-e7cbf544174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349</Words>
  <Application>Microsoft Office PowerPoint</Application>
  <PresentationFormat>Grand écran</PresentationFormat>
  <Paragraphs>37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Thème Office [1784134178619]</vt:lpstr>
      <vt:lpstr>Analysis &amp; Recommendations</vt:lpstr>
      <vt:lpstr>Key Insights</vt:lpstr>
      <vt:lpstr>Limitations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Aïcha Strln</dc:creator>
  <cp:lastModifiedBy>Aïcha Strln</cp:lastModifiedBy>
  <cp:revision>6</cp:revision>
  <dcterms:created xsi:type="dcterms:W3CDTF">2026-07-15T15:54:34Z</dcterms:created>
  <dcterms:modified xsi:type="dcterms:W3CDTF">2026-07-15T17:16:06Z</dcterms:modified>
</cp:coreProperties>
</file>